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ScaleOn Study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2500" b="1"/>
            </a:pPr>
            <a:r>
              <a:t>Full-Stack Internship Management and Learning Portal</a:t>
            </a:r>
          </a:p>
          <a:p>
            <a:pPr algn="ctr">
              <a:spcAft>
                <a:spcPts val="1800"/>
              </a:spcAft>
              <a:defRPr sz="1900" b="0"/>
            </a:pPr>
            <a:r>
              <a:t>Summer Internship Project Presentation</a:t>
            </a:r>
          </a:p>
          <a:p>
            <a:pPr algn="ctr">
              <a:spcAft>
                <a:spcPts val="1800"/>
              </a:spcAft>
              <a:defRPr sz="1900" b="0"/>
            </a:pPr>
            <a:r>
              <a:t>Based on the submitted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A full-stack web application for managing internship programs and learning activities.</a:t>
            </a:r>
          </a:p>
          <a:p>
            <a:pPr>
              <a:spcAft>
                <a:spcPts val="1300"/>
              </a:spcAft>
              <a:defRPr sz="1900"/>
            </a:pPr>
            <a:r>
              <a:t>Centralizes intern accounts, batches, roles, learning modules, assignments and progress.</a:t>
            </a:r>
          </a:p>
          <a:p>
            <a:pPr>
              <a:spcAft>
                <a:spcPts val="1300"/>
              </a:spcAft>
              <a:defRPr sz="1900"/>
            </a:pPr>
            <a:r>
              <a:t>Also supports sessions, attendance, notifications, support tickets and audit logging.</a:t>
            </a:r>
          </a:p>
          <a:p>
            <a:pPr>
              <a:spcAft>
                <a:spcPts val="1300"/>
              </a:spcAft>
              <a:defRPr sz="1900"/>
            </a:pPr>
            <a:r>
              <a:t>The documented architecture uses separate frontend and backend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Problem: Internship programs require coordination of users, batches, learning, assignments, communication and administration.</a:t>
            </a:r>
          </a:p>
          <a:p>
            <a:pPr>
              <a:spcAft>
                <a:spcPts val="1300"/>
              </a:spcAft>
              <a:defRPr sz="1900"/>
            </a:pPr>
            <a:r>
              <a:t>Objective: Build a centralized, maintainable platform for internship lifecycle and learning management.</a:t>
            </a:r>
          </a:p>
          <a:p>
            <a:pPr>
              <a:spcAft>
                <a:spcPts val="1300"/>
              </a:spcAft>
              <a:defRPr sz="1900"/>
            </a:pPr>
            <a:r>
              <a:t>Provide secure authentication and database-driven role-based access control.</a:t>
            </a:r>
          </a:p>
          <a:p>
            <a:pPr>
              <a:spcAft>
                <a:spcPts val="1300"/>
              </a:spcAft>
              <a:defRPr sz="1900"/>
            </a:pPr>
            <a:r>
              <a:t>Track learning progress, assignments, sessions and important administrative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Frontend: Next.js 16, React 19, TypeScript, Tailwind CSS 4</a:t>
            </a:r>
          </a:p>
          <a:p>
            <a:pPr>
              <a:spcAft>
                <a:spcPts val="1300"/>
              </a:spcAft>
              <a:defRPr sz="1700"/>
            </a:pPr>
            <a:r>
              <a:t>Backend: Node.js 22, Express.js, TypeScript</a:t>
            </a:r>
          </a:p>
          <a:p>
            <a:pPr>
              <a:spcAft>
                <a:spcPts val="1300"/>
              </a:spcAft>
              <a:defRPr sz="1700"/>
            </a:pPr>
            <a:r>
              <a:t>Database: PostgreSQL</a:t>
            </a:r>
          </a:p>
          <a:p>
            <a:pPr>
              <a:spcAft>
                <a:spcPts val="1300"/>
              </a:spcAft>
              <a:defRPr sz="1700"/>
            </a:pPr>
            <a:r>
              <a:t>ORM: Prisma</a:t>
            </a:r>
          </a:p>
          <a:p>
            <a:pPr>
              <a:spcAft>
                <a:spcPts val="1300"/>
              </a:spcAft>
              <a:defRPr sz="1700"/>
            </a:pPr>
            <a:r>
              <a:t>Authentication: JWT access + refresh tokens with HTTP-only cookies</a:t>
            </a:r>
          </a:p>
          <a:p>
            <a:pPr>
              <a:spcAft>
                <a:spcPts val="1300"/>
              </a:spcAft>
              <a:defRPr sz="1700"/>
            </a:pPr>
            <a:r>
              <a:t>Security &amp; validation: bcrypt, Helmet, HPP, rate limiting, CSRF protection and Zod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User → Next.js Frontend</a:t>
            </a:r>
          </a:p>
          <a:p>
            <a:pPr>
              <a:spcAft>
                <a:spcPts val="1300"/>
              </a:spcAft>
              <a:defRPr sz="1700"/>
            </a:pPr>
            <a:r>
              <a:t>Frontend → REST API / Authentication Layer</a:t>
            </a:r>
          </a:p>
          <a:p>
            <a:pPr>
              <a:spcAft>
                <a:spcPts val="1300"/>
              </a:spcAft>
              <a:defRPr sz="1700"/>
            </a:pPr>
            <a:r>
              <a:t>Express middleware → Authentication, authorization, validation and security checks</a:t>
            </a:r>
          </a:p>
          <a:p>
            <a:pPr>
              <a:spcAft>
                <a:spcPts val="1300"/>
              </a:spcAft>
              <a:defRPr sz="1700"/>
            </a:pPr>
            <a:r>
              <a:t>Application services/modules → Business logic</a:t>
            </a:r>
          </a:p>
          <a:p>
            <a:pPr>
              <a:spcAft>
                <a:spcPts val="1300"/>
              </a:spcAft>
              <a:defRPr sz="1700"/>
            </a:pPr>
            <a:r>
              <a:t>Prisma ORM → PostgreSQL database</a:t>
            </a:r>
          </a:p>
          <a:p>
            <a:pPr>
              <a:spcAft>
                <a:spcPts val="1300"/>
              </a:spcAft>
              <a:defRPr sz="1700"/>
            </a:pPr>
            <a:r>
              <a:t>The architecture separates frontend, backend and database responsibilities.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Major Functional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Authentication: login, logout, password reset, token refresh and session controls</a:t>
            </a:r>
          </a:p>
          <a:p>
            <a:pPr>
              <a:spcAft>
                <a:spcPts val="1300"/>
              </a:spcAft>
              <a:defRPr sz="1700"/>
            </a:pPr>
            <a:r>
              <a:t>Intern Management: accounts, status, batches, roles and transfers</a:t>
            </a:r>
          </a:p>
          <a:p>
            <a:pPr>
              <a:spcAft>
                <a:spcPts val="1300"/>
              </a:spcAft>
              <a:defRPr sz="1700"/>
            </a:pPr>
            <a:r>
              <a:t>Learning: phases, modules, progress, XP and streaks</a:t>
            </a:r>
          </a:p>
          <a:p>
            <a:pPr>
              <a:spcAft>
                <a:spcPts val="1300"/>
              </a:spcAft>
              <a:defRPr sz="1700"/>
            </a:pPr>
            <a:r>
              <a:t>Assignments: creation, submission, review, scoring and feedback</a:t>
            </a:r>
          </a:p>
          <a:p>
            <a:pPr>
              <a:spcAft>
                <a:spcPts val="1300"/>
              </a:spcAft>
              <a:defRPr sz="1700"/>
            </a:pPr>
            <a:r>
              <a:t>Sessions &amp; Support: live sessions, attendance and support tickets</a:t>
            </a:r>
          </a:p>
          <a:p>
            <a:pPr>
              <a:spcAft>
                <a:spcPts val="1300"/>
              </a:spcAft>
              <a:defRPr sz="1700"/>
            </a:pPr>
            <a:r>
              <a:t>Notifications and Audit: system notifications, activity logs and administrative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Security &amp; 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Short-lived JWT access tokens and rotating refresh tokens</a:t>
            </a:r>
          </a:p>
          <a:p>
            <a:pPr>
              <a:spcAft>
                <a:spcPts val="1300"/>
              </a:spcAft>
              <a:defRPr sz="1700"/>
            </a:pPr>
            <a:r>
              <a:t>HTTP-only cookies and hashed refresh tokens</a:t>
            </a:r>
          </a:p>
          <a:p>
            <a:pPr>
              <a:spcAft>
                <a:spcPts val="1300"/>
              </a:spcAft>
              <a:defRPr sz="1700"/>
            </a:pPr>
            <a:r>
              <a:t>bcrypt password hashing and login rate limiting</a:t>
            </a:r>
          </a:p>
          <a:p>
            <a:pPr>
              <a:spcAft>
                <a:spcPts val="1300"/>
              </a:spcAft>
              <a:defRPr sz="1700"/>
            </a:pPr>
            <a:r>
              <a:t>CSRF protection, Helmet security headers and HPP</a:t>
            </a:r>
          </a:p>
          <a:p>
            <a:pPr>
              <a:spcAft>
                <a:spcPts val="1300"/>
              </a:spcAft>
              <a:defRPr sz="1700"/>
            </a:pPr>
            <a:r>
              <a:t>Zod request validation and Prisma parameterized queries</a:t>
            </a:r>
          </a:p>
          <a:p>
            <a:pPr>
              <a:spcAft>
                <a:spcPts val="1300"/>
              </a:spcAft>
              <a:defRPr sz="1700"/>
            </a:pPr>
            <a:r>
              <a:t>Documented roles: Super Admin, Admin, Mentor and Intern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&amp; API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PostgreSQL database documented with 29 tables.</a:t>
            </a:r>
          </a:p>
          <a:p>
            <a:pPr>
              <a:spcAft>
                <a:spcPts val="1300"/>
              </a:spcAft>
              <a:defRPr sz="1900"/>
            </a:pPr>
            <a:r>
              <a:t>Main areas: identity, authorization, internship, security/audit, learning, assignments, sessions, support and notifications.</a:t>
            </a:r>
          </a:p>
          <a:p>
            <a:pPr>
              <a:spcAft>
                <a:spcPts val="1300"/>
              </a:spcAft>
              <a:defRPr sz="1900"/>
            </a:pPr>
            <a:r>
              <a:t>REST-style API using GET, POST, PUT, PATCH and DELETE.</a:t>
            </a:r>
          </a:p>
          <a:p>
            <a:pPr>
              <a:spcAft>
                <a:spcPts val="1300"/>
              </a:spcAft>
              <a:defRPr sz="1900"/>
            </a:pPr>
            <a:r>
              <a:t>Documented API modules include /auth, /users, /admins, /interns, /roles, /batches, /sessions and /profile.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Assignment &amp; 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Administrators can create, edit and delete assignments.</a:t>
            </a:r>
          </a:p>
          <a:p>
            <a:pPr>
              <a:spcAft>
                <a:spcPts val="1300"/>
              </a:spcAft>
              <a:defRPr sz="1900"/>
            </a:pPr>
            <a:r>
              <a:t>Assignments can be filtered by learning module and due-date status.</a:t>
            </a:r>
          </a:p>
          <a:p>
            <a:pPr>
              <a:spcAft>
                <a:spcPts val="1300"/>
              </a:spcAft>
              <a:defRPr sz="1900"/>
            </a:pPr>
            <a:r>
              <a:t>Intern submissions can be reviewed with scores, feedback and status decisions.</a:t>
            </a:r>
          </a:p>
          <a:p>
            <a:pPr>
              <a:spcAft>
                <a:spcPts val="1300"/>
              </a:spcAft>
              <a:defRPr sz="1900"/>
            </a:pPr>
            <a:r>
              <a:t>Learning modules record completion, score, time, XP and streak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Setup &amp;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Clone the project repository.</a:t>
            </a:r>
          </a:p>
          <a:p>
            <a:pPr>
              <a:spcAft>
                <a:spcPts val="1300"/>
              </a:spcAft>
              <a:defRPr sz="1700"/>
            </a:pPr>
            <a:r>
              <a:t>Install backend dependencies inside /backend.</a:t>
            </a:r>
          </a:p>
          <a:p>
            <a:pPr>
              <a:spcAft>
                <a:spcPts val="1300"/>
              </a:spcAft>
              <a:defRPr sz="1700"/>
            </a:pPr>
            <a:r>
              <a:t>Install frontend dependencies inside /frontend.</a:t>
            </a:r>
          </a:p>
          <a:p>
            <a:pPr>
              <a:spcAft>
                <a:spcPts val="1300"/>
              </a:spcAft>
              <a:defRPr sz="1700"/>
            </a:pPr>
            <a:r>
              <a:t>Configure backend environment variables and security secrets.</a:t>
            </a:r>
          </a:p>
          <a:p>
            <a:pPr>
              <a:spcAft>
                <a:spcPts val="1300"/>
              </a:spcAft>
              <a:defRPr sz="1700"/>
            </a:pPr>
            <a:r>
              <a:t>Generate the Prisma client and run backend and frontend development servers.</a:t>
            </a:r>
          </a:p>
          <a:p>
            <a:pPr>
              <a:spcAft>
                <a:spcPts val="1300"/>
              </a:spcAft>
              <a:defRPr sz="1700"/>
            </a:pPr>
            <a:r>
              <a:t>Open the admin or intern login route in a browser.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Production deployment strategy is documented as future/TBD.</a:t>
            </a:r>
          </a:p>
          <a:p>
            <a:pPr>
              <a:spcAft>
                <a:spcPts val="1300"/>
              </a:spcAft>
              <a:defRPr sz="1900"/>
            </a:pPr>
            <a:r>
              <a:t>Observability, health checks, metrics and APM are future areas.</a:t>
            </a:r>
          </a:p>
          <a:p>
            <a:pPr>
              <a:spcAft>
                <a:spcPts val="1300"/>
              </a:spcAft>
              <a:defRPr sz="1900"/>
            </a:pPr>
            <a:r>
              <a:t>File storage, email infrastructure and real-time notifications are future decisions.</a:t>
            </a:r>
          </a:p>
          <a:p>
            <a:pPr>
              <a:spcAft>
                <a:spcPts val="1300"/>
              </a:spcAft>
              <a:defRPr sz="1900"/>
            </a:pPr>
            <a:r>
              <a:t>Redis caching, advanced search and expanded mentor workflows are planned.</a:t>
            </a:r>
          </a:p>
          <a:p>
            <a:pPr>
              <a:spcAft>
                <a:spcPts val="1300"/>
              </a:spcAft>
              <a:defRPr sz="1900"/>
            </a:pPr>
            <a:r>
              <a:t>Future work also includes richer analytics and automated CI/CD pipelines.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ScaleOn Study Portal provides a structured foundation for internship administration and learning.</a:t>
            </a:r>
          </a:p>
          <a:p>
            <a:pPr>
              <a:spcAft>
                <a:spcPts val="1300"/>
              </a:spcAft>
              <a:defRPr sz="1900"/>
            </a:pPr>
            <a:r>
              <a:t>It combines a modern frontend, TypeScript/Express backend and PostgreSQL/Prisma data layer.</a:t>
            </a:r>
          </a:p>
          <a:p>
            <a:pPr>
              <a:spcAft>
                <a:spcPts val="1300"/>
              </a:spcAft>
              <a:defRPr sz="1900"/>
            </a:pPr>
            <a:r>
              <a:t>The documented system covers intern lifecycle management, RBAC, learning, assignments, sessions, support, notifications and auditability.</a:t>
            </a:r>
          </a:p>
          <a:p>
            <a:pPr>
              <a:spcAft>
                <a:spcPts val="1300"/>
              </a:spcAft>
              <a:defRPr sz="1900"/>
            </a:pPr>
            <a:r>
              <a:t>The report identifies additional infrastructure and operational work needed for production-scale deployment.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ScaleOn Study Portal  |  Summer Internship  |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/>
            </a:pPr>
            <a:r>
              <a:t>ScaleOn Study Portal GitHub repository</a:t>
            </a:r>
          </a:p>
          <a:p>
            <a:pPr>
              <a:spcAft>
                <a:spcPts val="1300"/>
              </a:spcAft>
              <a:defRPr sz="1900"/>
            </a:pPr>
            <a:r>
              <a:t>Repository README.md</a:t>
            </a:r>
          </a:p>
          <a:p>
            <a:pPr>
              <a:spcAft>
                <a:spcPts val="1300"/>
              </a:spcAft>
              <a:defRPr sz="1900"/>
            </a:pPr>
            <a:r>
              <a:t>ARCHITECTURE.md</a:t>
            </a:r>
          </a:p>
          <a:p>
            <a:pPr>
              <a:spcAft>
                <a:spcPts val="1300"/>
              </a:spcAft>
              <a:defRPr sz="1900"/>
            </a:pPr>
            <a:r>
              <a:t>DATABASE.md</a:t>
            </a:r>
          </a:p>
          <a:p>
            <a:pPr>
              <a:spcAft>
                <a:spcPts val="1300"/>
              </a:spcAft>
              <a:defRPr sz="1900"/>
            </a:pPr>
            <a:r>
              <a:t>API_DOCUMENTATION.md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